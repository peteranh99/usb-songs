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06"/>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362" r:id="rId30"/>
    <p:sldId id="5348" r:id="rId31"/>
    <p:sldId id="5349" r:id="rId32"/>
    <p:sldId id="5350" r:id="rId33"/>
    <p:sldId id="5351" r:id="rId34"/>
    <p:sldId id="5352" r:id="rId35"/>
    <p:sldId id="5353" r:id="rId36"/>
    <p:sldId id="5354" r:id="rId37"/>
    <p:sldId id="5355" r:id="rId38"/>
    <p:sldId id="5356" r:id="rId39"/>
    <p:sldId id="5357" r:id="rId40"/>
    <p:sldId id="5358" r:id="rId41"/>
    <p:sldId id="5359" r:id="rId42"/>
    <p:sldId id="5360" r:id="rId43"/>
    <p:sldId id="5361" r:id="rId44"/>
    <p:sldId id="4954" r:id="rId45"/>
    <p:sldId id="3646" r:id="rId46"/>
    <p:sldId id="3647" r:id="rId47"/>
    <p:sldId id="4358" r:id="rId48"/>
    <p:sldId id="5246" r:id="rId49"/>
    <p:sldId id="5247" r:id="rId50"/>
    <p:sldId id="5248" r:id="rId51"/>
    <p:sldId id="5016" r:id="rId52"/>
    <p:sldId id="5333" r:id="rId53"/>
    <p:sldId id="5334" r:id="rId54"/>
    <p:sldId id="5335" r:id="rId55"/>
    <p:sldId id="5336" r:id="rId56"/>
    <p:sldId id="5337" r:id="rId57"/>
    <p:sldId id="5338" r:id="rId58"/>
    <p:sldId id="5339" r:id="rId59"/>
    <p:sldId id="3394" r:id="rId60"/>
    <p:sldId id="5250" r:id="rId61"/>
    <p:sldId id="5255" r:id="rId62"/>
    <p:sldId id="5251" r:id="rId63"/>
    <p:sldId id="5256" r:id="rId64"/>
    <p:sldId id="5252" r:id="rId65"/>
    <p:sldId id="5249" r:id="rId66"/>
    <p:sldId id="5253" r:id="rId67"/>
    <p:sldId id="5254" r:id="rId68"/>
    <p:sldId id="5017" r:id="rId69"/>
    <p:sldId id="5302" r:id="rId70"/>
    <p:sldId id="5306" r:id="rId71"/>
    <p:sldId id="5307" r:id="rId72"/>
    <p:sldId id="5303" r:id="rId73"/>
    <p:sldId id="5304" r:id="rId74"/>
    <p:sldId id="5305" r:id="rId75"/>
    <p:sldId id="4106" r:id="rId76"/>
    <p:sldId id="5308" r:id="rId77"/>
    <p:sldId id="5309" r:id="rId78"/>
    <p:sldId id="5310" r:id="rId79"/>
    <p:sldId id="5311" r:id="rId80"/>
    <p:sldId id="5312" r:id="rId81"/>
    <p:sldId id="5313" r:id="rId82"/>
    <p:sldId id="5314" r:id="rId83"/>
    <p:sldId id="5315" r:id="rId84"/>
    <p:sldId id="5340" r:id="rId85"/>
    <p:sldId id="5341" r:id="rId86"/>
    <p:sldId id="5316" r:id="rId87"/>
    <p:sldId id="5317" r:id="rId88"/>
    <p:sldId id="5318" r:id="rId89"/>
    <p:sldId id="5319" r:id="rId90"/>
    <p:sldId id="5320" r:id="rId91"/>
    <p:sldId id="5342" r:id="rId92"/>
    <p:sldId id="5343" r:id="rId93"/>
    <p:sldId id="5321" r:id="rId94"/>
    <p:sldId id="5322" r:id="rId95"/>
    <p:sldId id="5344" r:id="rId96"/>
    <p:sldId id="5345" r:id="rId97"/>
    <p:sldId id="5323" r:id="rId98"/>
    <p:sldId id="5324" r:id="rId99"/>
    <p:sldId id="5346" r:id="rId100"/>
    <p:sldId id="5347" r:id="rId101"/>
    <p:sldId id="5325" r:id="rId102"/>
    <p:sldId id="5331" r:id="rId103"/>
    <p:sldId id="5330" r:id="rId104"/>
    <p:sldId id="5332" r:id="rId10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4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04/04/2021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04/04/2021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04/04/2021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dirty="0">
                <a:solidFill>
                  <a:srgbClr val="FF0000"/>
                </a:solidFill>
                <a:latin typeface="Times New Roman" pitchFamily="18" charset="0"/>
                <a:cs typeface="Times New Roman" pitchFamily="18" charset="0"/>
              </a:rPr>
              <a:t>3. </a:t>
            </a:r>
            <a:r>
              <a:rPr lang="en-US" sz="3600" b="1" i="1" dirty="0" err="1">
                <a:solidFill>
                  <a:srgbClr val="FF0000"/>
                </a:solidFill>
                <a:latin typeface="Times New Roman" pitchFamily="18" charset="0"/>
                <a:cs typeface="Times New Roman" pitchFamily="18" charset="0"/>
              </a:rPr>
              <a:t>Sáu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Hội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Thánh</a:t>
            </a:r>
            <a:endParaRPr lang="en-US" sz="3600" b="1" i="1" dirty="0">
              <a:solidFill>
                <a:srgbClr val="FF0000"/>
              </a:solidFill>
              <a:latin typeface="Times New Roman" pitchFamily="18" charset="0"/>
              <a:cs typeface="Times New Roman" pitchFamily="18" charset="0"/>
            </a:endParaRPr>
          </a:p>
          <a:p>
            <a:pPr algn="just"/>
            <a:r>
              <a:rPr lang="vi-VN" sz="4000" b="1" dirty="0">
                <a:solidFill>
                  <a:schemeClr val="tx1"/>
                </a:solidFill>
                <a:latin typeface="+mj-lt"/>
              </a:rPr>
              <a:t>Hội thánh có sáu điều răn:</a:t>
            </a:r>
            <a:endParaRPr lang="en-US" sz="4000" b="1" dirty="0">
              <a:solidFill>
                <a:schemeClr val="tx1"/>
              </a:solidFill>
              <a:latin typeface="+mj-lt"/>
            </a:endParaRPr>
          </a:p>
          <a:p>
            <a:pPr algn="just"/>
            <a:r>
              <a:rPr lang="vi-VN" sz="4000" b="1" dirty="0">
                <a:solidFill>
                  <a:schemeClr val="tx1"/>
                </a:solidFill>
                <a:latin typeface="+mj-lt"/>
              </a:rPr>
              <a:t>Thứ nhất: Xem lễ ngày Chúa nhật cùng các ngày Lễ buộc. </a:t>
            </a:r>
            <a:endParaRPr lang="en-US" sz="4000" b="1" dirty="0">
              <a:solidFill>
                <a:schemeClr val="tx1"/>
              </a:solidFill>
              <a:latin typeface="+mj-lt"/>
            </a:endParaRPr>
          </a:p>
          <a:p>
            <a:pPr algn="just"/>
            <a:r>
              <a:rPr lang="vi-VN" sz="4000" b="1" dirty="0">
                <a:solidFill>
                  <a:schemeClr val="tx1"/>
                </a:solidFill>
                <a:latin typeface="+mj-lt"/>
              </a:rPr>
              <a:t>Thứ hai: Chớ làm việc xác ngày Chúa nhật cùng các ngày Lễ buộc. </a:t>
            </a:r>
          </a:p>
          <a:p>
            <a:pPr algn="just"/>
            <a:r>
              <a:rPr lang="vi-VN" sz="4000" b="1" dirty="0">
                <a:solidFill>
                  <a:schemeClr val="tx1"/>
                </a:solidFill>
                <a:latin typeface="+mj-lt"/>
              </a:rPr>
              <a:t>Thứ ba: Xưng tội trong một năm ít là một lần.</a:t>
            </a:r>
          </a:p>
          <a:p>
            <a:pPr algn="just"/>
            <a:r>
              <a:rPr lang="vi-VN" sz="4000" b="1" dirty="0">
                <a:solidFill>
                  <a:schemeClr val="tx1"/>
                </a:solidFill>
                <a:latin typeface="+mj-lt"/>
              </a:rPr>
              <a:t>Thứ bốn: Chịu Mình Thánh Ðức Chúa Giêsu trong Mùa Phục Sinh.</a:t>
            </a:r>
            <a:endParaRPr lang="en-US" sz="4000" b="1" dirty="0">
              <a:solidFill>
                <a:schemeClr val="tx1"/>
              </a:solidFill>
              <a:latin typeface="+mj-lt"/>
            </a:endParaRPr>
          </a:p>
          <a:p>
            <a:pPr algn="just"/>
            <a:endParaRPr lang="en-US" sz="4000" b="1" dirty="0">
              <a:solidFill>
                <a:schemeClr val="tx1"/>
              </a:solidFill>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dirty="0">
                <a:solidFill>
                  <a:srgbClr val="FF0000"/>
                </a:solidFill>
                <a:latin typeface="Times New Roman" pitchFamily="18" charset="0"/>
                <a:cs typeface="Times New Roman" pitchFamily="18" charset="0"/>
              </a:rPr>
              <a:t>4.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Bảy</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Phép</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Bí</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Tích</a:t>
            </a:r>
            <a:endParaRPr lang="en-US" sz="3600" b="1" i="1" dirty="0">
              <a:solidFill>
                <a:srgbClr val="FF0000"/>
              </a:solidFill>
              <a:latin typeface="Times New Roman" pitchFamily="18" charset="0"/>
              <a:cs typeface="Times New Roman" pitchFamily="18" charset="0"/>
            </a:endParaRPr>
          </a:p>
          <a:p>
            <a:pPr algn="just"/>
            <a:r>
              <a:rPr lang="vi-VN" sz="4000" b="1" dirty="0">
                <a:solidFill>
                  <a:schemeClr val="tx1"/>
                </a:solidFill>
                <a:latin typeface="+mj-lt"/>
              </a:rPr>
              <a:t>Đạo Đức Chúa Trời có bảy phép Bí</a:t>
            </a:r>
            <a:r>
              <a:rPr lang="en-US" sz="4000" b="1" dirty="0">
                <a:solidFill>
                  <a:schemeClr val="tx1"/>
                </a:solidFill>
                <a:latin typeface="+mj-lt"/>
              </a:rPr>
              <a:t> </a:t>
            </a:r>
            <a:r>
              <a:rPr lang="vi-VN" sz="4000" b="1" dirty="0">
                <a:solidFill>
                  <a:schemeClr val="tx1"/>
                </a:solidFill>
                <a:latin typeface="+mj-lt"/>
              </a:rPr>
              <a:t>tích:</a:t>
            </a:r>
            <a:endParaRPr lang="en-US" sz="4000" b="1" dirty="0">
              <a:solidFill>
                <a:schemeClr val="tx1"/>
              </a:solidFill>
              <a:latin typeface="+mj-lt"/>
            </a:endParaRPr>
          </a:p>
          <a:p>
            <a:pPr algn="just"/>
            <a:r>
              <a:rPr lang="vi-VN" sz="4000" b="1" dirty="0">
                <a:solidFill>
                  <a:schemeClr val="tx1"/>
                </a:solidFill>
                <a:latin typeface="+mj-lt"/>
              </a:rPr>
              <a:t>Thứ nhất: là phép Rửa tội.</a:t>
            </a:r>
            <a:endParaRPr lang="en-US" sz="4000" b="1" dirty="0">
              <a:solidFill>
                <a:schemeClr val="tx1"/>
              </a:solidFill>
              <a:latin typeface="+mj-lt"/>
            </a:endParaRPr>
          </a:p>
          <a:p>
            <a:pPr algn="just"/>
            <a:r>
              <a:rPr lang="vi-VN" sz="4000" b="1" dirty="0">
                <a:solidFill>
                  <a:schemeClr val="tx1"/>
                </a:solidFill>
                <a:latin typeface="+mj-lt"/>
              </a:rPr>
              <a:t>Thứ hai: là phép Thêm sức.</a:t>
            </a:r>
            <a:endParaRPr lang="en-US" sz="4000" b="1" dirty="0">
              <a:solidFill>
                <a:schemeClr val="tx1"/>
              </a:solidFill>
              <a:latin typeface="+mj-lt"/>
            </a:endParaRPr>
          </a:p>
          <a:p>
            <a:pPr algn="just"/>
            <a:r>
              <a:rPr lang="vi-VN" sz="4000" b="1" dirty="0">
                <a:solidFill>
                  <a:schemeClr val="tx1"/>
                </a:solidFill>
                <a:latin typeface="+mj-lt"/>
              </a:rPr>
              <a:t>Thứ ba: là phép Mình Thánh Chúa.</a:t>
            </a:r>
            <a:endParaRPr lang="en-US" sz="4000" b="1" dirty="0">
              <a:solidFill>
                <a:schemeClr val="tx1"/>
              </a:solidFill>
              <a:latin typeface="+mj-lt"/>
            </a:endParaRPr>
          </a:p>
          <a:p>
            <a:pPr algn="just"/>
            <a:r>
              <a:rPr lang="vi-VN" sz="4000" b="1" dirty="0">
                <a:solidFill>
                  <a:schemeClr val="tx1"/>
                </a:solidFill>
                <a:latin typeface="+mj-lt"/>
              </a:rPr>
              <a:t>Thứ bốn: là phép Giải tội.</a:t>
            </a:r>
            <a:endParaRPr lang="en-US" sz="4000" b="1" dirty="0">
              <a:solidFill>
                <a:schemeClr val="tx1"/>
              </a:solidFill>
              <a:latin typeface="+mj-lt"/>
            </a:endParaRPr>
          </a:p>
          <a:p>
            <a:pPr algn="just"/>
            <a:r>
              <a:rPr lang="vi-VN" sz="4000" b="1" dirty="0">
                <a:solidFill>
                  <a:schemeClr val="tx1"/>
                </a:solidFill>
                <a:latin typeface="+mj-lt"/>
              </a:rPr>
              <a:t>Thứ năm: là phép Xức dầu thánh.</a:t>
            </a:r>
            <a:endParaRPr lang="en-US" sz="4000" b="1" dirty="0">
              <a:solidFill>
                <a:schemeClr val="tx1"/>
              </a:solidFill>
              <a:latin typeface="+mj-lt"/>
            </a:endParaRPr>
          </a:p>
          <a:p>
            <a:pPr algn="just"/>
            <a:r>
              <a:rPr lang="vi-VN" sz="4000" b="1" dirty="0">
                <a:solidFill>
                  <a:schemeClr val="tx1"/>
                </a:solidFill>
                <a:latin typeface="+mj-lt"/>
              </a:rPr>
              <a:t>Thứ sáu: là phép Truyền chức thánh.</a:t>
            </a:r>
            <a:endParaRPr lang="en-US" sz="4000" b="1" dirty="0">
              <a:solidFill>
                <a:schemeClr val="tx1"/>
              </a:solidFill>
              <a:latin typeface="+mj-lt"/>
            </a:endParaRPr>
          </a:p>
          <a:p>
            <a:pPr algn="just"/>
            <a:r>
              <a:rPr lang="vi-VN" sz="4000" b="1" dirty="0">
                <a:solidFill>
                  <a:schemeClr val="tx1"/>
                </a:solidFill>
                <a:latin typeface="+mj-lt"/>
              </a:rPr>
              <a:t>Thứ bảy: là phép Hôn</a:t>
            </a:r>
            <a:r>
              <a:rPr lang="en-US" sz="4000" b="1" dirty="0">
                <a:solidFill>
                  <a:schemeClr val="tx1"/>
                </a:solidFill>
                <a:latin typeface="+mj-lt"/>
              </a:rPr>
              <a:t> </a:t>
            </a:r>
            <a:r>
              <a:rPr lang="vi-VN" sz="4000" b="1" dirty="0">
                <a:solidFill>
                  <a:schemeClr val="tx1"/>
                </a:solidFill>
                <a:latin typeface="+mj-lt"/>
              </a:rPr>
              <a:t>phối.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dirty="0">
                <a:solidFill>
                  <a:srgbClr val="FF0000"/>
                </a:solidFill>
                <a:latin typeface="Times New Roman" pitchFamily="18" charset="0"/>
                <a:cs typeface="Times New Roman" pitchFamily="18" charset="0"/>
              </a:rPr>
              <a:t>5. </a:t>
            </a:r>
            <a:r>
              <a:rPr lang="en-US" sz="3900" b="1" i="1" dirty="0" err="1">
                <a:solidFill>
                  <a:srgbClr val="FF0000"/>
                </a:solidFill>
                <a:latin typeface="Times New Roman" pitchFamily="18" charset="0"/>
                <a:cs typeface="Times New Roman" pitchFamily="18" charset="0"/>
              </a:rPr>
              <a:t>Kinh</a:t>
            </a:r>
            <a:r>
              <a:rPr lang="en-US" sz="3900" b="1" i="1" dirty="0">
                <a:solidFill>
                  <a:srgbClr val="FF0000"/>
                </a:solidFill>
                <a:latin typeface="Times New Roman" pitchFamily="18" charset="0"/>
                <a:cs typeface="Times New Roman" pitchFamily="18" charset="0"/>
              </a:rPr>
              <a:t> </a:t>
            </a:r>
            <a:r>
              <a:rPr lang="en-US" sz="3900" b="1" i="1" dirty="0" err="1">
                <a:solidFill>
                  <a:srgbClr val="FF0000"/>
                </a:solidFill>
                <a:latin typeface="Times New Roman" pitchFamily="18" charset="0"/>
                <a:cs typeface="Times New Roman" pitchFamily="18" charset="0"/>
              </a:rPr>
              <a:t>Mười</a:t>
            </a:r>
            <a:r>
              <a:rPr lang="en-US" sz="3900" b="1" i="1" dirty="0">
                <a:solidFill>
                  <a:srgbClr val="FF0000"/>
                </a:solidFill>
                <a:latin typeface="Times New Roman" pitchFamily="18" charset="0"/>
                <a:cs typeface="Times New Roman" pitchFamily="18" charset="0"/>
              </a:rPr>
              <a:t> </a:t>
            </a:r>
            <a:r>
              <a:rPr lang="en-US" sz="3900" b="1" i="1" dirty="0" err="1">
                <a:solidFill>
                  <a:srgbClr val="FF0000"/>
                </a:solidFill>
                <a:latin typeface="Times New Roman" pitchFamily="18" charset="0"/>
                <a:cs typeface="Times New Roman" pitchFamily="18" charset="0"/>
              </a:rPr>
              <a:t>Bốn</a:t>
            </a:r>
            <a:r>
              <a:rPr lang="en-US" sz="3900" b="1" i="1" dirty="0">
                <a:solidFill>
                  <a:srgbClr val="FF0000"/>
                </a:solidFill>
                <a:latin typeface="Times New Roman" pitchFamily="18" charset="0"/>
                <a:cs typeface="Times New Roman" pitchFamily="18" charset="0"/>
              </a:rPr>
              <a:t> </a:t>
            </a:r>
            <a:r>
              <a:rPr lang="en-US" sz="3900" b="1" i="1" dirty="0" err="1">
                <a:solidFill>
                  <a:srgbClr val="FF0000"/>
                </a:solidFill>
                <a:latin typeface="Times New Roman" pitchFamily="18" charset="0"/>
                <a:cs typeface="Times New Roman" pitchFamily="18" charset="0"/>
              </a:rPr>
              <a:t>Mối</a:t>
            </a:r>
            <a:r>
              <a:rPr lang="en-US" sz="3900" b="1" i="1" dirty="0">
                <a:solidFill>
                  <a:srgbClr val="FF0000"/>
                </a:solidFill>
                <a:latin typeface="Times New Roman" pitchFamily="18" charset="0"/>
                <a:cs typeface="Times New Roman" pitchFamily="18" charset="0"/>
              </a:rPr>
              <a:t> </a:t>
            </a:r>
            <a:r>
              <a:rPr lang="en-US" sz="3900" b="1" i="1" dirty="0" err="1">
                <a:solidFill>
                  <a:srgbClr val="FF0000"/>
                </a:solidFill>
                <a:latin typeface="Times New Roman" pitchFamily="18" charset="0"/>
                <a:cs typeface="Times New Roman" pitchFamily="18" charset="0"/>
              </a:rPr>
              <a:t>Thương</a:t>
            </a:r>
            <a:r>
              <a:rPr lang="en-US" sz="3900" b="1" i="1" dirty="0">
                <a:solidFill>
                  <a:srgbClr val="FF0000"/>
                </a:solidFill>
                <a:latin typeface="Times New Roman" pitchFamily="18" charset="0"/>
                <a:cs typeface="Times New Roman" pitchFamily="18" charset="0"/>
              </a:rPr>
              <a:t> </a:t>
            </a:r>
            <a:r>
              <a:rPr lang="en-US" sz="3900" b="1" i="1" dirty="0" err="1">
                <a:solidFill>
                  <a:srgbClr val="FF0000"/>
                </a:solidFill>
                <a:latin typeface="Times New Roman" pitchFamily="18" charset="0"/>
                <a:cs typeface="Times New Roman" pitchFamily="18" charset="0"/>
              </a:rPr>
              <a:t>Người</a:t>
            </a:r>
            <a:r>
              <a:rPr lang="en-US" sz="3900" b="1" i="1" dirty="0">
                <a:solidFill>
                  <a:srgbClr val="FF0000"/>
                </a:solidFill>
                <a:latin typeface="Times New Roman" pitchFamily="18" charset="0"/>
                <a:cs typeface="Times New Roman" pitchFamily="18" charset="0"/>
              </a:rPr>
              <a:t>:</a:t>
            </a:r>
          </a:p>
          <a:p>
            <a:pPr algn="just"/>
            <a:r>
              <a:rPr lang="vi-VN" sz="3900" b="1" i="1" dirty="0">
                <a:solidFill>
                  <a:srgbClr val="FF0000"/>
                </a:solidFill>
                <a:latin typeface="+mj-lt"/>
              </a:rPr>
              <a:t>Thương người có mười bốn mối</a:t>
            </a:r>
            <a:endParaRPr lang="en-US" sz="3900" b="1" i="1" dirty="0">
              <a:solidFill>
                <a:srgbClr val="FF0000"/>
              </a:solidFill>
              <a:latin typeface="+mj-lt"/>
            </a:endParaRPr>
          </a:p>
          <a:p>
            <a:pPr algn="just"/>
            <a:r>
              <a:rPr lang="vi-VN" sz="3900" b="1" i="1" dirty="0">
                <a:solidFill>
                  <a:srgbClr val="FF0000"/>
                </a:solidFill>
                <a:latin typeface="+mj-lt"/>
              </a:rPr>
              <a:t>Thương xác bảy mối:</a:t>
            </a:r>
            <a:endParaRPr lang="en-US" sz="3900" b="1" i="1" dirty="0">
              <a:solidFill>
                <a:srgbClr val="FF0000"/>
              </a:solidFill>
              <a:latin typeface="+mj-lt"/>
            </a:endParaRPr>
          </a:p>
          <a:p>
            <a:pPr algn="just"/>
            <a:r>
              <a:rPr lang="vi-VN" sz="4300" b="1" dirty="0">
                <a:solidFill>
                  <a:schemeClr val="tx1"/>
                </a:solidFill>
                <a:latin typeface="+mj-lt"/>
              </a:rPr>
              <a:t>Thứ nhất: cho kẻ đói ăn.</a:t>
            </a:r>
            <a:endParaRPr lang="en-US" sz="4300" b="1" dirty="0">
              <a:solidFill>
                <a:schemeClr val="tx1"/>
              </a:solidFill>
              <a:latin typeface="+mj-lt"/>
            </a:endParaRPr>
          </a:p>
          <a:p>
            <a:pPr algn="just"/>
            <a:r>
              <a:rPr lang="vi-VN" sz="4300" b="1" dirty="0">
                <a:solidFill>
                  <a:schemeClr val="tx1"/>
                </a:solidFill>
                <a:latin typeface="+mj-lt"/>
              </a:rPr>
              <a:t>Thứ hai: cho kẻ khát uống.</a:t>
            </a:r>
            <a:endParaRPr lang="en-US" sz="4300" b="1" dirty="0">
              <a:solidFill>
                <a:schemeClr val="tx1"/>
              </a:solidFill>
              <a:latin typeface="+mj-lt"/>
            </a:endParaRPr>
          </a:p>
          <a:p>
            <a:pPr algn="just"/>
            <a:r>
              <a:rPr lang="vi-VN" sz="4300" b="1" dirty="0">
                <a:solidFill>
                  <a:schemeClr val="tx1"/>
                </a:solidFill>
                <a:latin typeface="+mj-lt"/>
              </a:rPr>
              <a:t>Thứ ba: cho kẻ rách rưới ăn mặc.</a:t>
            </a:r>
            <a:endParaRPr lang="en-US" sz="4300" b="1" dirty="0">
              <a:solidFill>
                <a:schemeClr val="tx1"/>
              </a:solidFill>
              <a:latin typeface="+mj-lt"/>
            </a:endParaRPr>
          </a:p>
          <a:p>
            <a:pPr algn="just"/>
            <a:r>
              <a:rPr lang="vi-VN" sz="4300" b="1" dirty="0">
                <a:solidFill>
                  <a:schemeClr val="tx1"/>
                </a:solidFill>
                <a:latin typeface="+mj-lt"/>
              </a:rPr>
              <a:t>Thứ bốn: viếng kẻ liệt cùng kẻ tù rạc.</a:t>
            </a:r>
            <a:endParaRPr lang="en-US" sz="4300" b="1" dirty="0">
              <a:solidFill>
                <a:schemeClr val="tx1"/>
              </a:solidFill>
              <a:latin typeface="+mj-lt"/>
            </a:endParaRPr>
          </a:p>
          <a:p>
            <a:pPr algn="just"/>
            <a:r>
              <a:rPr lang="vi-VN" sz="4300" b="1" dirty="0">
                <a:solidFill>
                  <a:schemeClr val="tx1"/>
                </a:solidFill>
                <a:latin typeface="+mj-lt"/>
              </a:rPr>
              <a:t>Thứ năm: cho khách đỗ nhà.</a:t>
            </a:r>
            <a:endParaRPr lang="en-US" sz="4300" b="1" dirty="0">
              <a:solidFill>
                <a:schemeClr val="tx1"/>
              </a:solidFill>
              <a:latin typeface="+mj-lt"/>
            </a:endParaRPr>
          </a:p>
          <a:p>
            <a:pPr algn="just"/>
            <a:r>
              <a:rPr lang="vi-VN" sz="4300" b="1" dirty="0">
                <a:solidFill>
                  <a:schemeClr val="tx1"/>
                </a:solidFill>
                <a:latin typeface="+mj-lt"/>
              </a:rPr>
              <a:t>Thứ sáu: chuộc kẻ làm tôi.</a:t>
            </a:r>
            <a:endParaRPr lang="en-US" sz="4300" b="1" dirty="0">
              <a:solidFill>
                <a:schemeClr val="tx1"/>
              </a:solidFill>
              <a:latin typeface="+mj-lt"/>
            </a:endParaRPr>
          </a:p>
          <a:p>
            <a:pPr algn="just"/>
            <a:r>
              <a:rPr lang="vi-VN" sz="4300" b="1" dirty="0">
                <a:solidFill>
                  <a:schemeClr val="tx1"/>
                </a:solidFill>
                <a:latin typeface="+mj-lt"/>
              </a:rPr>
              <a:t>Thứ bảy: chôn xác kẻ chết.</a:t>
            </a:r>
            <a:endParaRPr lang="en-US" sz="43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dirty="0">
                <a:solidFill>
                  <a:srgbClr val="FF0000"/>
                </a:solidFill>
                <a:latin typeface="+mj-lt"/>
              </a:rPr>
              <a:t>Thương linh</a:t>
            </a:r>
            <a:r>
              <a:rPr lang="en-US" sz="3600" b="1" i="1" dirty="0">
                <a:solidFill>
                  <a:srgbClr val="FF0000"/>
                </a:solidFill>
                <a:latin typeface="+mj-lt"/>
              </a:rPr>
              <a:t> </a:t>
            </a:r>
            <a:r>
              <a:rPr lang="vi-VN" sz="3600" b="1" i="1" dirty="0">
                <a:solidFill>
                  <a:srgbClr val="FF0000"/>
                </a:solidFill>
                <a:latin typeface="+mj-lt"/>
              </a:rPr>
              <a:t>hồn bảy mối:</a:t>
            </a:r>
            <a:endParaRPr lang="en-US" sz="3600" b="1" i="1" dirty="0">
              <a:solidFill>
                <a:srgbClr val="FF0000"/>
              </a:solidFill>
              <a:latin typeface="+mj-lt"/>
            </a:endParaRPr>
          </a:p>
          <a:p>
            <a:pPr algn="just"/>
            <a:r>
              <a:rPr lang="vi-VN" sz="4000" b="1" dirty="0">
                <a:solidFill>
                  <a:schemeClr val="tx1"/>
                </a:solidFill>
                <a:latin typeface="+mj-lt"/>
              </a:rPr>
              <a:t>Thứ nhất: lấy lời lành mà khuyên người.</a:t>
            </a:r>
            <a:endParaRPr lang="en-US" sz="4000" b="1" dirty="0">
              <a:solidFill>
                <a:schemeClr val="tx1"/>
              </a:solidFill>
              <a:latin typeface="+mj-lt"/>
            </a:endParaRPr>
          </a:p>
          <a:p>
            <a:pPr algn="just"/>
            <a:r>
              <a:rPr lang="vi-VN" sz="4000" b="1" dirty="0">
                <a:solidFill>
                  <a:schemeClr val="tx1"/>
                </a:solidFill>
                <a:latin typeface="+mj-lt"/>
              </a:rPr>
              <a:t>Thứ hai: mở dậy kẻ mê muội.</a:t>
            </a:r>
            <a:endParaRPr lang="en-US" sz="4000" b="1" dirty="0">
              <a:solidFill>
                <a:schemeClr val="tx1"/>
              </a:solidFill>
              <a:latin typeface="+mj-lt"/>
            </a:endParaRPr>
          </a:p>
          <a:p>
            <a:pPr algn="just"/>
            <a:r>
              <a:rPr lang="vi-VN" sz="4000" b="1" dirty="0">
                <a:solidFill>
                  <a:schemeClr val="tx1"/>
                </a:solidFill>
                <a:latin typeface="+mj-lt"/>
              </a:rPr>
              <a:t>Thứ ba: yên ủi kẻ âu lo.</a:t>
            </a:r>
            <a:endParaRPr lang="en-US" sz="4000" b="1" dirty="0">
              <a:solidFill>
                <a:schemeClr val="tx1"/>
              </a:solidFill>
              <a:latin typeface="+mj-lt"/>
            </a:endParaRPr>
          </a:p>
          <a:p>
            <a:pPr algn="just"/>
            <a:r>
              <a:rPr lang="vi-VN" sz="4000" b="1" dirty="0">
                <a:solidFill>
                  <a:schemeClr val="tx1"/>
                </a:solidFill>
                <a:latin typeface="+mj-lt"/>
              </a:rPr>
              <a:t>Thứ bốn: răn bảo kẻ có tội.</a:t>
            </a:r>
            <a:endParaRPr lang="en-US" sz="4000" b="1" dirty="0">
              <a:solidFill>
                <a:schemeClr val="tx1"/>
              </a:solidFill>
              <a:latin typeface="+mj-lt"/>
            </a:endParaRPr>
          </a:p>
          <a:p>
            <a:pPr algn="just"/>
            <a:r>
              <a:rPr lang="vi-VN" sz="4000" b="1" dirty="0">
                <a:solidFill>
                  <a:schemeClr val="tx1"/>
                </a:solidFill>
                <a:latin typeface="+mj-lt"/>
              </a:rPr>
              <a:t>Thứ năm: tha kẻ dể ta.</a:t>
            </a:r>
            <a:endParaRPr lang="en-US" sz="4000" b="1" dirty="0">
              <a:solidFill>
                <a:schemeClr val="tx1"/>
              </a:solidFill>
              <a:latin typeface="+mj-lt"/>
            </a:endParaRPr>
          </a:p>
          <a:p>
            <a:pPr algn="just"/>
            <a:r>
              <a:rPr lang="vi-VN" sz="4000" b="1" dirty="0">
                <a:solidFill>
                  <a:schemeClr val="tx1"/>
                </a:solidFill>
                <a:latin typeface="+mj-lt"/>
              </a:rPr>
              <a:t>Thứ sáu: nhịn kẻ mất lòng ta.</a:t>
            </a:r>
            <a:endParaRPr lang="en-US" sz="4000" b="1" dirty="0">
              <a:solidFill>
                <a:schemeClr val="tx1"/>
              </a:solidFill>
              <a:latin typeface="+mj-lt"/>
            </a:endParaRPr>
          </a:p>
          <a:p>
            <a:pPr algn="just"/>
            <a:r>
              <a:rPr lang="vi-VN" sz="4000" b="1" dirty="0">
                <a:solidFill>
                  <a:schemeClr val="tx1"/>
                </a:solidFill>
                <a:latin typeface="+mj-lt"/>
              </a:rPr>
              <a:t>Thứ bảy: cầu cho kẻ sống và kẻ chết.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dirty="0">
                <a:solidFill>
                  <a:srgbClr val="FF0000"/>
                </a:solidFill>
                <a:latin typeface="+mj-lt"/>
                <a:cs typeface="Times New Roman" pitchFamily="18" charset="0"/>
              </a:rPr>
              <a:t>7. Kinh Tám Mối Phúc Thật:</a:t>
            </a:r>
          </a:p>
          <a:p>
            <a:pPr algn="just"/>
            <a:r>
              <a:rPr lang="vi-VN" sz="4000" b="1" dirty="0">
                <a:solidFill>
                  <a:schemeClr val="tx1"/>
                </a:solidFill>
                <a:latin typeface="+mj-lt"/>
              </a:rPr>
              <a:t>Phúc thật tám mối:</a:t>
            </a:r>
          </a:p>
          <a:p>
            <a:pPr algn="just"/>
            <a:r>
              <a:rPr lang="vi-VN" sz="4000" b="1" dirty="0">
                <a:solidFill>
                  <a:schemeClr val="tx1"/>
                </a:solidFill>
                <a:latin typeface="+mj-lt"/>
              </a:rPr>
              <a:t>Thứ nhất: ai có lòng khó khăn, ấy là phúc thật, vì chưng nước Đức Chúa Trời là của mình vậy.</a:t>
            </a:r>
          </a:p>
          <a:p>
            <a:pPr algn="just"/>
            <a:r>
              <a:rPr lang="vi-VN" sz="4000" b="1" dirty="0">
                <a:solidFill>
                  <a:schemeClr val="tx1"/>
                </a:solidFill>
                <a:latin typeface="+mj-lt"/>
              </a:rPr>
              <a:t>Thứ hai: ai hiền lành, ấy là phúc thật, vì chưng sẽ được đất Đức Chúa Trời làm của mình vậy. </a:t>
            </a:r>
          </a:p>
          <a:p>
            <a:pPr algn="just"/>
            <a:r>
              <a:rPr lang="vi-VN" sz="4000" b="1" dirty="0">
                <a:solidFill>
                  <a:schemeClr val="tx1"/>
                </a:solidFill>
                <a:latin typeface="+mj-lt"/>
              </a:rPr>
              <a:t>Thứ ba: ai khóc lóc, ấy là phúc thật, vì chưng sẽ được yên ủi vậy.</a:t>
            </a:r>
          </a:p>
          <a:p>
            <a:pPr algn="just"/>
            <a:endParaRPr lang="vi-VN" sz="4000" b="1" dirty="0">
              <a:solidFill>
                <a:schemeClr val="tx1"/>
              </a:solidFill>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2179211"/>
            <a:ext cx="9144000" cy="1371709"/>
          </a:xfrm>
        </p:spPr>
        <p:txBody>
          <a:bodyPr>
            <a:noAutofit/>
          </a:bodyPr>
          <a:lstStyle/>
          <a:p>
            <a:r>
              <a:rPr lang="en-US" sz="6600" b="1" dirty="0" err="1">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Tập</a:t>
            </a:r>
            <a:r>
              <a:rPr lang="en-US" sz="6600" b="1"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6600" b="1" dirty="0" err="1">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Hát</a:t>
            </a:r>
            <a:endParaRPr lang="vi-VN" sz="5400" b="1" dirty="0">
              <a:solidFill>
                <a:srgbClr val="C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1512465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thảm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2565762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ca reo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791687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80446017"/>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ĐK1. Bà Ma-ri-a ơi trên đường bà thấy những gì, trên đường bà thấy những gì, xin kể cho chúng tôi nghe, xin kể cho chúng tôi nghe.</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61046375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ĐK2. Ngợi khen Vua Ki-tô sống lại và ra khỏi mồ. Tin Mừng vượt qua đây rồi, phúc trường sinh đến ai ơi, phúc trường sinh đến ai ơi.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5090946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31046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17567290"/>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9403"/>
            <a:ext cx="9144000" cy="5105400"/>
          </a:xfrm>
        </p:spPr>
        <p:txBody>
          <a:bodyPr>
            <a:noAutofit/>
          </a:bodyPr>
          <a:lstStyle/>
          <a:p>
            <a:pPr algn="just">
              <a:tabLst>
                <a:tab pos="2155825" algn="l"/>
              </a:tabLst>
            </a:pPr>
            <a:r>
              <a:rPr lang="vi-VN" sz="5400" b="1" dirty="0">
                <a:latin typeface="+mj-lt"/>
              </a:rPr>
              <a:t>Đ</a:t>
            </a:r>
            <a:r>
              <a:rPr lang="en-US" sz="5400" b="1" dirty="0">
                <a:latin typeface="Times New Roman" panose="02020603050405020304" pitchFamily="18" charset="0"/>
                <a:cs typeface="Times New Roman" panose="02020603050405020304" pitchFamily="18" charset="0"/>
              </a:rPr>
              <a:t>K</a:t>
            </a:r>
            <a:r>
              <a:rPr lang="vi-VN" sz="5400" b="1" dirty="0">
                <a:latin typeface="+mj-lt"/>
              </a:rPr>
              <a:t>.</a:t>
            </a:r>
            <a:r>
              <a:rPr lang="en-US" sz="5400" b="1" dirty="0">
                <a:latin typeface="+mj-lt"/>
              </a:rPr>
              <a:t> </a:t>
            </a:r>
            <a:r>
              <a:rPr lang="vi-VN" sz="5400" b="1" dirty="0">
                <a:latin typeface="+mj-lt"/>
              </a:rPr>
              <a:t>Chan hòa niềm vui dâng về Thiên Chúa rạng ngời.</a:t>
            </a:r>
            <a:r>
              <a:rPr lang="en-US" sz="5400" b="1" dirty="0">
                <a:latin typeface="+mj-lt"/>
              </a:rPr>
              <a:t> </a:t>
            </a:r>
            <a:r>
              <a:rPr lang="vi-VN" sz="5400" b="1" dirty="0">
                <a:latin typeface="+mj-lt"/>
              </a:rPr>
              <a:t>Th</a:t>
            </a:r>
            <a:r>
              <a:rPr lang="en-US" sz="5400" b="1" dirty="0">
                <a:latin typeface="Times New Roman" panose="02020603050405020304" pitchFamily="18" charset="0"/>
                <a:cs typeface="Times New Roman" panose="02020603050405020304" pitchFamily="18" charset="0"/>
              </a:rPr>
              <a:t>i</a:t>
            </a:r>
            <a:r>
              <a:rPr lang="vi-VN" sz="5400" b="1" dirty="0">
                <a:latin typeface="+mj-lt"/>
              </a:rPr>
              <a:t>ên đàng rộng mở</a:t>
            </a:r>
            <a:r>
              <a:rPr lang="en-US" sz="5400" b="1" dirty="0">
                <a:latin typeface="+mj-lt"/>
              </a:rPr>
              <a:t> </a:t>
            </a:r>
            <a:r>
              <a:rPr lang="vi-VN" sz="5400" b="1" dirty="0">
                <a:latin typeface="+mj-lt"/>
              </a:rPr>
              <a:t>Chúa Con hiển vinh vượt qua.</a:t>
            </a:r>
            <a:r>
              <a:rPr lang="en-US" sz="5400" b="1" dirty="0">
                <a:latin typeface="+mj-lt"/>
              </a:rPr>
              <a:t> </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2871516"/>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vi-VN" sz="5400" b="1" dirty="0">
                <a:latin typeface="+mj-lt"/>
              </a:rPr>
              <a:t>Mừng Giê-su chiến thắng đã thoát khỏi tay tử thần rồi.</a:t>
            </a:r>
            <a:r>
              <a:rPr lang="en-US" sz="5400" b="1" dirty="0">
                <a:latin typeface="+mj-lt"/>
              </a:rPr>
              <a:t> </a:t>
            </a:r>
            <a:r>
              <a:rPr lang="vi-VN" sz="5400" b="1" dirty="0">
                <a:latin typeface="+mj-lt"/>
              </a:rPr>
              <a:t>Vinh phúc xuống cho muôn người 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Alleluia! </a:t>
            </a:r>
          </a:p>
        </p:txBody>
      </p:sp>
    </p:spTree>
    <p:extLst>
      <p:ext uri="{BB962C8B-B14F-4D97-AF65-F5344CB8AC3E}">
        <p14:creationId xmlns:p14="http://schemas.microsoft.com/office/powerpoint/2010/main" val="153158490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8116"/>
            <a:ext cx="9144000" cy="4641273"/>
          </a:xfrm>
        </p:spPr>
        <p:txBody>
          <a:bodyPr>
            <a:noAutofit/>
          </a:bodyPr>
          <a:lstStyle/>
          <a:p>
            <a:pPr algn="just">
              <a:tabLst>
                <a:tab pos="2155825" algn="l"/>
              </a:tabLst>
            </a:pPr>
            <a:r>
              <a:rPr lang="vi-VN" sz="5400" b="1" dirty="0">
                <a:latin typeface="+mj-lt"/>
              </a:rPr>
              <a:t>ĐK. Vang lên </a:t>
            </a:r>
            <a:r>
              <a:rPr lang="en-US" sz="5400" b="1" dirty="0" err="1">
                <a:latin typeface="Times New Roman" panose="02020603050405020304" pitchFamily="18" charset="0"/>
                <a:cs typeface="Times New Roman" panose="02020603050405020304" pitchFamily="18" charset="0"/>
              </a:rPr>
              <a:t>mãi</a:t>
            </a:r>
            <a:r>
              <a:rPr lang="vi-VN" sz="5400" b="1" dirty="0">
                <a:latin typeface="+mj-lt"/>
              </a:rPr>
              <a:t> vạn cung đàn. Mừng khen nay Chúa đã khải hoàn. Ca lên hỡi toàn nhân trần vì Giêsu Phục Sinh trong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vi-VN" sz="5400" b="1" dirty="0">
                <a:latin typeface="+mj-lt"/>
              </a:rPr>
              <a:t>.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60453302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8116"/>
            <a:ext cx="9144000" cy="4641273"/>
          </a:xfrm>
        </p:spPr>
        <p:txBody>
          <a:bodyPr>
            <a:noAutofit/>
          </a:bodyPr>
          <a:lstStyle/>
          <a:p>
            <a:pPr algn="just">
              <a:tabLst>
                <a:tab pos="2155825" algn="l"/>
              </a:tabLst>
            </a:pPr>
            <a:r>
              <a:rPr lang="vi-VN" sz="5400" b="1" dirty="0">
                <a:latin typeface="+mj-lt"/>
              </a:rPr>
              <a:t>Xua tan hết </a:t>
            </a:r>
            <a:r>
              <a:rPr lang="en-US" sz="5400" b="1" dirty="0" err="1">
                <a:latin typeface="Times New Roman" panose="02020603050405020304" pitchFamily="18" charset="0"/>
                <a:cs typeface="Times New Roman" panose="02020603050405020304" pitchFamily="18" charset="0"/>
              </a:rPr>
              <a:t>mọi</a:t>
            </a:r>
            <a:r>
              <a:rPr lang="vi-VN" sz="5400" b="1" dirty="0">
                <a:latin typeface="+mj-lt"/>
              </a:rPr>
              <a:t> ưu phiền, đập tan bao nhiêu chước ác ma. Hôm nay Chúa đã sống lại, cùng nhau xướng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78789971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ĐK. Đức Ki-tô đã sống lại thật rồi! Đức Ki-tô đã đánh tan tử thần. Nào hân hoan cùng ca lên Al-lê-lu-ia!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456839951"/>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Đức Ki-tô là Tình Yêu vinh thắng mang cho đời sự sống mới linh thiêng. Cất cao lên câu ngợi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566713279"/>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NỮ VƯƠNG THIÊN ĐÀNG (TD-TC)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92283"/>
            <a:ext cx="9144000" cy="4641273"/>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Alleluia, Alleluia, Alleluia, Alleluia, Alleluia.</a:t>
            </a:r>
          </a:p>
        </p:txBody>
      </p:sp>
    </p:spTree>
    <p:extLst>
      <p:ext uri="{BB962C8B-B14F-4D97-AF65-F5344CB8AC3E}">
        <p14:creationId xmlns:p14="http://schemas.microsoft.com/office/powerpoint/2010/main" val="1075598072"/>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NỮ VƯƠNG THIÊN ĐÀNG (TD-TC)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8403"/>
            <a:ext cx="9144000" cy="4641273"/>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244577237"/>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thảm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2308712"/>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ca reo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9112930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đọa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kiếp</a:t>
            </a:r>
            <a:r>
              <a:rPr lang="en-US" sz="5400" b="1" dirty="0">
                <a:latin typeface="Times New Roman" panose="02020603050405020304" pitchFamily="18" charset="0"/>
                <a:cs typeface="Times New Roman" panose="02020603050405020304" pitchFamily="18" charset="0"/>
              </a:rPr>
              <a:t> con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Can-</a:t>
            </a:r>
            <a:r>
              <a:rPr lang="en-US" sz="5400" b="1" dirty="0" err="1">
                <a:latin typeface="Times New Roman" panose="02020603050405020304" pitchFamily="18" charset="0"/>
                <a:cs typeface="Times New Roman" panose="02020603050405020304" pitchFamily="18" charset="0"/>
              </a:rPr>
              <a:t>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Nh</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ng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3323840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ca reo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40473228"/>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mồ</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Vinh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114457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ca reo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38781917"/>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Đáp</a:t>
            </a:r>
            <a:r>
              <a:rPr lang="en-US" sz="1800" dirty="0">
                <a:solidFill>
                  <a:srgbClr val="FF0000"/>
                </a:solidFill>
                <a:latin typeface="Times New Roman" panose="02020603050405020304" pitchFamily="18" charset="0"/>
                <a:cs typeface="Times New Roman" panose="02020603050405020304" pitchFamily="18" charset="0"/>
              </a:rPr>
              <a:t> ca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7442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Israel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6679040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02371874"/>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Đáp</a:t>
            </a:r>
            <a:r>
              <a:rPr lang="en-US" sz="1800" dirty="0">
                <a:solidFill>
                  <a:srgbClr val="FF0000"/>
                </a:solidFill>
                <a:latin typeface="Times New Roman" panose="02020603050405020304" pitchFamily="18" charset="0"/>
                <a:cs typeface="Times New Roman" panose="02020603050405020304" pitchFamily="18" charset="0"/>
              </a:rPr>
              <a:t> ca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7442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Tay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loan </a:t>
            </a:r>
            <a:r>
              <a:rPr lang="en-US" sz="5400" b="1" dirty="0" err="1">
                <a:latin typeface="Times New Roman" panose="02020603050405020304" pitchFamily="18" charset="0"/>
                <a:cs typeface="Times New Roman" panose="02020603050405020304" pitchFamily="18" charset="0"/>
              </a:rPr>
              <a:t>truyền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2043765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71780051"/>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Đáp</a:t>
            </a:r>
            <a:r>
              <a:rPr lang="en-US" sz="1800" dirty="0">
                <a:solidFill>
                  <a:srgbClr val="FF0000"/>
                </a:solidFill>
                <a:latin typeface="Times New Roman" panose="02020603050405020304" pitchFamily="18" charset="0"/>
                <a:cs typeface="Times New Roman" panose="02020603050405020304" pitchFamily="18" charset="0"/>
              </a:rPr>
              <a:t> ca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7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trừ</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góc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do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79640090"/>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0884274"/>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DD665-A150-4768-8712-1970046CD2C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DBEE450-DE6A-441B-AD57-FCF674FE0F8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19792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ĐK1. Bà Ma-ri-a ơi trên đường bà thấy những gì, trên đường bà thấy những gì, xin kể cho chúng tôi nghe, xin kể cho chúng tôi nghe.</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56534849"/>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1. Tôi là tôi đã thấy nấm mồ của Đức Ki-tô, Người đã sống lại và đã ra khỏi mồ, Người đang là đang sống vinh quang, sống vinh quang</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69940441"/>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ĐK1. Bà Ma-ri-a ơi trên đường bà thấy những gì, trên đường bà thấy những gì, xin kể cho chúng tôi nghe, xin kể cho chúng tôi nghe.</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073042578"/>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2. Tôi là tôi đã thấy Chiên Con cứu chuộc đoàn chiên, Đức Ki-tô vô tội đã hòa giải tội nhân. Hòa giải tội nhân với Chúa, với Chúa là Chúa Cha</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712942042"/>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ĐK1. Bà Ma-ri-a ơi trên đường bà thấy những gì, trên đường bà thấy những gì, xin kể cho chúng tôi nghe, xin kể cho chúng tôi nghe.</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946984787"/>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03333"/>
            <a:ext cx="9144000" cy="6391564"/>
          </a:xfrm>
        </p:spPr>
        <p:txBody>
          <a:bodyPr>
            <a:noAutofit/>
          </a:bodyPr>
          <a:lstStyle/>
          <a:p>
            <a:pPr algn="just"/>
            <a:r>
              <a:rPr lang="vi-VN" sz="5400" b="1" dirty="0">
                <a:latin typeface="+mj-lt"/>
              </a:rPr>
              <a:t>3. Tôi là tôi đã thấy sống chết giao tranh cùng nhau, trong một cuộc đấu diệu kỳ, và tướng lãnh sự sống, đã chết tuy đã chết đi, nhưng Người đã sống lại, sống lại mà trị vì</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8235605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ĐK2. Ngợi khen Vua Ki-tô sống lại và ra khỏi mồ. Tin Mừng vượt qua đây rồi, phúc trường sinh đến ai ơi, phúc trường sinh đến ai ơi.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322668599"/>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50933"/>
            <a:ext cx="9144000" cy="6391564"/>
          </a:xfrm>
        </p:spPr>
        <p:txBody>
          <a:bodyPr>
            <a:noAutofit/>
          </a:bodyPr>
          <a:lstStyle/>
          <a:p>
            <a:pPr algn="just"/>
            <a:r>
              <a:rPr lang="vi-VN" sz="5400" b="1" dirty="0">
                <a:latin typeface="+mj-lt"/>
              </a:rPr>
              <a:t>4. Tôi là tôi đã thấy Thiên Thần làm chứng tỏ tường: khăn liệm và y phục Người còn nguyên trong mồ đá. Nhưng Người đã sống lại, và đi trước chư vị, đến Ga-li-lê-a, đến Ga-li-lê-a.</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754661402"/>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Ca </a:t>
            </a:r>
            <a:r>
              <a:rPr lang="en-US" sz="1800" dirty="0" err="1">
                <a:solidFill>
                  <a:srgbClr val="FF0000"/>
                </a:solidFill>
                <a:latin typeface="Times New Roman" pitchFamily="18" charset="0"/>
                <a:cs typeface="Times New Roman" pitchFamily="18" charset="0"/>
              </a:rPr>
              <a:t>tiếp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liên</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HOAN CA PHỤC SINH (HL)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vi-VN" sz="5400" b="1" dirty="0">
                <a:latin typeface="+mj-lt"/>
              </a:rPr>
              <a:t>ĐK2. Ngợi khen Vua Ki-tô sống lại và ra khỏi mồ. Tin Mừng vượt qua đây rồi, phúc trường sinh đến ai ơi, phúc trường sinh đến ai ơi.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831097473"/>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31046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23900"/>
            <a:ext cx="9144000" cy="5105400"/>
          </a:xfrm>
        </p:spPr>
        <p:txBody>
          <a:bodyPr>
            <a:noAutofit/>
          </a:bodyPr>
          <a:lstStyle/>
          <a:p>
            <a:pPr algn="just">
              <a:tabLst>
                <a:tab pos="2155825" algn="l"/>
              </a:tabLst>
            </a:pPr>
            <a:r>
              <a:rPr lang="vi-VN" sz="5400" b="1" dirty="0">
                <a:latin typeface="+mj-lt"/>
              </a:rPr>
              <a:t>1</a:t>
            </a:r>
            <a:r>
              <a:rPr lang="en-US" sz="5400" b="1" dirty="0">
                <a:latin typeface="+mj-lt"/>
              </a:rPr>
              <a:t>. </a:t>
            </a:r>
            <a:r>
              <a:rPr lang="vi-VN" sz="5400" b="1" dirty="0">
                <a:latin typeface="+mj-lt"/>
              </a:rPr>
              <a:t>Hiệp dâng về trên đĩa thánh, bánh thơm ngọt ngào phúc ân. Này là bao lao công, tiến dâng trót cả cuộc sống. Cùng dâng này đây chén rượu, xin Cha thương nhận lấy máu chiên thánh trào tuôn để nuôi dưỡng linh hồn.</a:t>
            </a:r>
            <a:endParaRPr lang="en-US" sz="5400" b="1" dirty="0">
              <a:latin typeface="+mj-lt"/>
            </a:endParaRPr>
          </a:p>
        </p:txBody>
      </p:sp>
    </p:spTree>
    <p:extLst>
      <p:ext uri="{BB962C8B-B14F-4D97-AF65-F5344CB8AC3E}">
        <p14:creationId xmlns:p14="http://schemas.microsoft.com/office/powerpoint/2010/main" val="1795421811"/>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9403"/>
            <a:ext cx="9144000" cy="5105400"/>
          </a:xfrm>
        </p:spPr>
        <p:txBody>
          <a:bodyPr>
            <a:noAutofit/>
          </a:bodyPr>
          <a:lstStyle/>
          <a:p>
            <a:pPr algn="just">
              <a:tabLst>
                <a:tab pos="2155825" algn="l"/>
              </a:tabLst>
            </a:pPr>
            <a:r>
              <a:rPr lang="vi-VN" sz="5400" b="1" dirty="0">
                <a:latin typeface="+mj-lt"/>
              </a:rPr>
              <a:t>Đ</a:t>
            </a:r>
            <a:r>
              <a:rPr lang="en-US" sz="5400" b="1" dirty="0">
                <a:latin typeface="Times New Roman" panose="02020603050405020304" pitchFamily="18" charset="0"/>
                <a:cs typeface="Times New Roman" panose="02020603050405020304" pitchFamily="18" charset="0"/>
              </a:rPr>
              <a:t>K</a:t>
            </a:r>
            <a:r>
              <a:rPr lang="vi-VN" sz="5400" b="1" dirty="0">
                <a:latin typeface="+mj-lt"/>
              </a:rPr>
              <a:t>.</a:t>
            </a:r>
            <a:r>
              <a:rPr lang="en-US" sz="5400" b="1" dirty="0">
                <a:latin typeface="+mj-lt"/>
              </a:rPr>
              <a:t> </a:t>
            </a:r>
            <a:r>
              <a:rPr lang="vi-VN" sz="5400" b="1" dirty="0">
                <a:latin typeface="+mj-lt"/>
              </a:rPr>
              <a:t>Chan hòa niềm vui dâng về Thiên Chúa rạng ngời.</a:t>
            </a:r>
            <a:r>
              <a:rPr lang="en-US" sz="5400" b="1" dirty="0">
                <a:latin typeface="+mj-lt"/>
              </a:rPr>
              <a:t> </a:t>
            </a:r>
            <a:r>
              <a:rPr lang="vi-VN" sz="5400" b="1" dirty="0">
                <a:latin typeface="+mj-lt"/>
              </a:rPr>
              <a:t>Th</a:t>
            </a:r>
            <a:r>
              <a:rPr lang="en-US" sz="5400" b="1" dirty="0">
                <a:latin typeface="Times New Roman" panose="02020603050405020304" pitchFamily="18" charset="0"/>
                <a:cs typeface="Times New Roman" panose="02020603050405020304" pitchFamily="18" charset="0"/>
              </a:rPr>
              <a:t>i</a:t>
            </a:r>
            <a:r>
              <a:rPr lang="vi-VN" sz="5400" b="1" dirty="0">
                <a:latin typeface="+mj-lt"/>
              </a:rPr>
              <a:t>ên đàng rộng mở</a:t>
            </a:r>
            <a:r>
              <a:rPr lang="en-US" sz="5400" b="1" dirty="0">
                <a:latin typeface="+mj-lt"/>
              </a:rPr>
              <a:t> </a:t>
            </a:r>
            <a:r>
              <a:rPr lang="vi-VN" sz="5400" b="1" dirty="0">
                <a:latin typeface="+mj-lt"/>
              </a:rPr>
              <a:t>Chúa Con hiển vinh vượt qua.</a:t>
            </a:r>
            <a:r>
              <a:rPr lang="en-US" sz="5400" b="1" dirty="0">
                <a:latin typeface="+mj-lt"/>
              </a:rPr>
              <a:t> </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0309192"/>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vi-VN" sz="5400" b="1" dirty="0">
                <a:latin typeface="+mj-lt"/>
              </a:rPr>
              <a:t>Mừng Giê-su chiến thắng đã thoát khỏi tay tử thần rồi.</a:t>
            </a:r>
            <a:r>
              <a:rPr lang="en-US" sz="5400" b="1" dirty="0">
                <a:latin typeface="+mj-lt"/>
              </a:rPr>
              <a:t> </a:t>
            </a:r>
            <a:r>
              <a:rPr lang="vi-VN" sz="5400" b="1" dirty="0">
                <a:latin typeface="+mj-lt"/>
              </a:rPr>
              <a:t>Vinh phúc xuống cho muôn người 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Alleluia! </a:t>
            </a:r>
          </a:p>
        </p:txBody>
      </p:sp>
    </p:spTree>
    <p:extLst>
      <p:ext uri="{BB962C8B-B14F-4D97-AF65-F5344CB8AC3E}">
        <p14:creationId xmlns:p14="http://schemas.microsoft.com/office/powerpoint/2010/main" val="848678449"/>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23900"/>
            <a:ext cx="9144000" cy="5105400"/>
          </a:xfrm>
        </p:spPr>
        <p:txBody>
          <a:bodyPr>
            <a:noAutofit/>
          </a:bodyPr>
          <a:lstStyle/>
          <a:p>
            <a:pPr algn="just">
              <a:tabLst>
                <a:tab pos="2155825" algn="l"/>
              </a:tabLst>
            </a:pPr>
            <a:r>
              <a:rPr lang="vi-VN" sz="5400" b="1" dirty="0">
                <a:latin typeface="+mj-lt"/>
              </a:rPr>
              <a:t>2</a:t>
            </a:r>
            <a:r>
              <a:rPr lang="en-US" sz="5400" b="1" dirty="0">
                <a:latin typeface="+mj-lt"/>
              </a:rPr>
              <a:t>. </a:t>
            </a:r>
            <a:r>
              <a:rPr lang="vi-VN" sz="5400" b="1" dirty="0">
                <a:latin typeface="+mj-lt"/>
              </a:rPr>
              <a:t>Đời con dù bao gian khó, đớn đau nhọc nhằn nỗi lo. Đường trần gian đau thương vẫn không sánh được cùng Chúa. Thì đây hiệp dâng đến Ngài, xin Cha thương nhận lấy, hiến dâng tấm lòng con cùng thân xác linh hồn.</a:t>
            </a:r>
            <a:endParaRPr lang="en-US" sz="5400" b="1" dirty="0">
              <a:latin typeface="+mj-lt"/>
            </a:endParaRPr>
          </a:p>
        </p:txBody>
      </p:sp>
    </p:spTree>
    <p:extLst>
      <p:ext uri="{BB962C8B-B14F-4D97-AF65-F5344CB8AC3E}">
        <p14:creationId xmlns:p14="http://schemas.microsoft.com/office/powerpoint/2010/main" val="1922861789"/>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9403"/>
            <a:ext cx="9144000" cy="5105400"/>
          </a:xfrm>
        </p:spPr>
        <p:txBody>
          <a:bodyPr>
            <a:noAutofit/>
          </a:bodyPr>
          <a:lstStyle/>
          <a:p>
            <a:pPr algn="just">
              <a:tabLst>
                <a:tab pos="2155825" algn="l"/>
              </a:tabLst>
            </a:pPr>
            <a:r>
              <a:rPr lang="vi-VN" sz="5400" b="1" dirty="0">
                <a:latin typeface="+mj-lt"/>
              </a:rPr>
              <a:t>Đ</a:t>
            </a:r>
            <a:r>
              <a:rPr lang="en-US" sz="5400" b="1" dirty="0">
                <a:latin typeface="Times New Roman" panose="02020603050405020304" pitchFamily="18" charset="0"/>
                <a:cs typeface="Times New Roman" panose="02020603050405020304" pitchFamily="18" charset="0"/>
              </a:rPr>
              <a:t>K</a:t>
            </a:r>
            <a:r>
              <a:rPr lang="vi-VN" sz="5400" b="1" dirty="0">
                <a:latin typeface="+mj-lt"/>
              </a:rPr>
              <a:t>.</a:t>
            </a:r>
            <a:r>
              <a:rPr lang="en-US" sz="5400" b="1" dirty="0">
                <a:latin typeface="+mj-lt"/>
              </a:rPr>
              <a:t> </a:t>
            </a:r>
            <a:r>
              <a:rPr lang="vi-VN" sz="5400" b="1" dirty="0">
                <a:latin typeface="+mj-lt"/>
              </a:rPr>
              <a:t>Chan hòa niềm vui dâng về Thiên Chúa rạng ngời.</a:t>
            </a:r>
            <a:r>
              <a:rPr lang="en-US" sz="5400" b="1" dirty="0">
                <a:latin typeface="+mj-lt"/>
              </a:rPr>
              <a:t> </a:t>
            </a:r>
            <a:r>
              <a:rPr lang="vi-VN" sz="5400" b="1" dirty="0">
                <a:latin typeface="+mj-lt"/>
              </a:rPr>
              <a:t>Th</a:t>
            </a:r>
            <a:r>
              <a:rPr lang="en-US" sz="5400" b="1" dirty="0">
                <a:latin typeface="Times New Roman" panose="02020603050405020304" pitchFamily="18" charset="0"/>
                <a:cs typeface="Times New Roman" panose="02020603050405020304" pitchFamily="18" charset="0"/>
              </a:rPr>
              <a:t>i</a:t>
            </a:r>
            <a:r>
              <a:rPr lang="vi-VN" sz="5400" b="1" dirty="0">
                <a:latin typeface="+mj-lt"/>
              </a:rPr>
              <a:t>ên đàng rộng mở</a:t>
            </a:r>
            <a:r>
              <a:rPr lang="en-US" sz="5400" b="1" dirty="0">
                <a:latin typeface="+mj-lt"/>
              </a:rPr>
              <a:t> </a:t>
            </a:r>
            <a:r>
              <a:rPr lang="vi-VN" sz="5400" b="1" dirty="0">
                <a:latin typeface="+mj-lt"/>
              </a:rPr>
              <a:t>Chúa Con hiển vinh vượt qua.</a:t>
            </a:r>
            <a:r>
              <a:rPr lang="en-US" sz="5400" b="1" dirty="0">
                <a:latin typeface="+mj-lt"/>
              </a:rPr>
              <a:t> </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15447656"/>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PHỤC SINH (NHL)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vi-VN" sz="5400" b="1" dirty="0">
                <a:latin typeface="+mj-lt"/>
              </a:rPr>
              <a:t>Mừng Giê-su chiến thắng đã thoát khỏi tay tử thần rồi.</a:t>
            </a:r>
            <a:r>
              <a:rPr lang="en-US" sz="5400" b="1" dirty="0">
                <a:latin typeface="+mj-lt"/>
              </a:rPr>
              <a:t> </a:t>
            </a:r>
            <a:r>
              <a:rPr lang="vi-VN" sz="5400" b="1" dirty="0">
                <a:latin typeface="+mj-lt"/>
              </a:rPr>
              <a:t>Vinh phúc xuống cho muôn người 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Alleluia! </a:t>
            </a:r>
          </a:p>
        </p:txBody>
      </p:sp>
    </p:spTree>
    <p:extLst>
      <p:ext uri="{BB962C8B-B14F-4D97-AF65-F5344CB8AC3E}">
        <p14:creationId xmlns:p14="http://schemas.microsoft.com/office/powerpoint/2010/main" val="876106544"/>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3317"/>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men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0996"/>
            <a:ext cx="9144000" cy="4641273"/>
          </a:xfrm>
        </p:spPr>
        <p:txBody>
          <a:bodyPr>
            <a:noAutofit/>
          </a:bodyPr>
          <a:lstStyle/>
          <a:p>
            <a:pPr algn="just">
              <a:tabLst>
                <a:tab pos="2155825" algn="l"/>
              </a:tabLst>
            </a:pPr>
            <a:r>
              <a:rPr lang="vi-VN" sz="5400" b="1" dirty="0">
                <a:latin typeface="+mj-lt"/>
              </a:rPr>
              <a:t>1. Bầu trời còn mù sương, đàn chim đã hát ca rộn ràng, cùng chào mừng bình minh lại đến báo tin cho ngày vàng.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590258981"/>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0996"/>
            <a:ext cx="9144000" cy="4641273"/>
          </a:xfrm>
        </p:spPr>
        <p:txBody>
          <a:bodyPr>
            <a:noAutofit/>
          </a:bodyPr>
          <a:lstStyle/>
          <a:p>
            <a:pPr algn="just">
              <a:tabLst>
                <a:tab pos="2155825" algn="l"/>
              </a:tabLst>
            </a:pPr>
            <a:r>
              <a:rPr lang="vi-VN" sz="5400" b="1" dirty="0">
                <a:latin typeface="+mj-lt"/>
              </a:rPr>
              <a:t>Kìa bà Maria vội bước về nơi mộ Chúa chết. Thế nhưng sao chẳng thấy Ngài nơi mồ hoang vắng.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322198779"/>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0996"/>
            <a:ext cx="9144000" cy="4641273"/>
          </a:xfrm>
        </p:spPr>
        <p:txBody>
          <a:bodyPr>
            <a:noAutofit/>
          </a:bodyPr>
          <a:lstStyle/>
          <a:p>
            <a:pPr algn="just">
              <a:tabLst>
                <a:tab pos="2155825" algn="l"/>
              </a:tabLst>
            </a:pPr>
            <a:r>
              <a:rPr lang="vi-VN" sz="5400" b="1" dirty="0">
                <a:latin typeface="+mj-lt"/>
              </a:rPr>
              <a:t>Này bà Maria, bà hãy nói cho chúng tôi hay, là từng chặng đường đi bà đã thấy xem những </a:t>
            </a:r>
            <a:r>
              <a:rPr lang="en-US" sz="5400" b="1" dirty="0" err="1">
                <a:latin typeface="Times New Roman" panose="02020603050405020304" pitchFamily="18" charset="0"/>
                <a:cs typeface="Times New Roman" panose="02020603050405020304" pitchFamily="18" charset="0"/>
              </a:rPr>
              <a:t>điều</a:t>
            </a:r>
            <a:r>
              <a:rPr lang="en-US" sz="5400" b="1" dirty="0">
                <a:latin typeface="+mj-lt"/>
              </a:rPr>
              <a:t> </a:t>
            </a:r>
            <a:r>
              <a:rPr lang="vi-VN" sz="5400" b="1" dirty="0">
                <a:latin typeface="+mj-lt"/>
              </a:rPr>
              <a:t>gì?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386190423"/>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0996"/>
            <a:ext cx="9144000" cy="4641273"/>
          </a:xfrm>
        </p:spPr>
        <p:txBody>
          <a:bodyPr>
            <a:noAutofit/>
          </a:bodyPr>
          <a:lstStyle/>
          <a:p>
            <a:pPr algn="just">
              <a:tabLst>
                <a:tab pos="2155825" algn="l"/>
              </a:tabLst>
            </a:pPr>
            <a:r>
              <a:rPr lang="vi-VN" sz="5400" b="1" dirty="0">
                <a:latin typeface="+mj-lt"/>
              </a:rPr>
              <a:t>Điều mà tôi nhìn thấy Ngài đã Phục Sinh từ cõi chết, hãy mau mau chạy đến mồ,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tin </a:t>
            </a:r>
            <a:r>
              <a:rPr lang="vi-VN" sz="5400" b="1" dirty="0">
                <a:latin typeface="+mj-lt"/>
              </a:rPr>
              <a:t>Chúa thực sống rồi.</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403923853"/>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8116"/>
            <a:ext cx="9144000" cy="4641273"/>
          </a:xfrm>
        </p:spPr>
        <p:txBody>
          <a:bodyPr>
            <a:noAutofit/>
          </a:bodyPr>
          <a:lstStyle/>
          <a:p>
            <a:pPr algn="just">
              <a:tabLst>
                <a:tab pos="2155825" algn="l"/>
              </a:tabLst>
            </a:pPr>
            <a:r>
              <a:rPr lang="vi-VN" sz="5400" b="1" dirty="0">
                <a:latin typeface="+mj-lt"/>
              </a:rPr>
              <a:t>ĐK. Vang lên </a:t>
            </a:r>
            <a:r>
              <a:rPr lang="en-US" sz="5400" b="1" dirty="0" err="1">
                <a:latin typeface="Times New Roman" panose="02020603050405020304" pitchFamily="18" charset="0"/>
                <a:cs typeface="Times New Roman" panose="02020603050405020304" pitchFamily="18" charset="0"/>
              </a:rPr>
              <a:t>mãi</a:t>
            </a:r>
            <a:r>
              <a:rPr lang="vi-VN" sz="5400" b="1" dirty="0">
                <a:latin typeface="+mj-lt"/>
              </a:rPr>
              <a:t> vạn cung đàn. Mừng khen nay Chúa đã khải hoàn. Ca lên hỡi toàn nhân trần vì Giêsu Phục Sinh trong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vi-VN" sz="5400" b="1" dirty="0">
                <a:latin typeface="+mj-lt"/>
              </a:rPr>
              <a:t>.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20522973"/>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8116"/>
            <a:ext cx="9144000" cy="4641273"/>
          </a:xfrm>
        </p:spPr>
        <p:txBody>
          <a:bodyPr>
            <a:noAutofit/>
          </a:bodyPr>
          <a:lstStyle/>
          <a:p>
            <a:pPr algn="just">
              <a:tabLst>
                <a:tab pos="2155825" algn="l"/>
              </a:tabLst>
            </a:pPr>
            <a:r>
              <a:rPr lang="vi-VN" sz="5400" b="1" dirty="0">
                <a:latin typeface="+mj-lt"/>
              </a:rPr>
              <a:t>Xua tan hết </a:t>
            </a:r>
            <a:r>
              <a:rPr lang="en-US" sz="5400" b="1" dirty="0" err="1">
                <a:latin typeface="Times New Roman" panose="02020603050405020304" pitchFamily="18" charset="0"/>
                <a:cs typeface="Times New Roman" panose="02020603050405020304" pitchFamily="18" charset="0"/>
              </a:rPr>
              <a:t>mọi</a:t>
            </a:r>
            <a:r>
              <a:rPr lang="vi-VN" sz="5400" b="1" dirty="0">
                <a:latin typeface="+mj-lt"/>
              </a:rPr>
              <a:t> ưu phiền, đập tan bao nhiêu chước ác ma. Hôm nay Chúa đã sống lại, cùng nhau xướng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821468797"/>
      </p:ext>
    </p:extLst>
  </p:cSld>
  <p:clrMapOvr>
    <a:masterClrMapping/>
  </p:clrMapOv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3"/>
            <a:ext cx="9144000" cy="4641273"/>
          </a:xfrm>
        </p:spPr>
        <p:txBody>
          <a:bodyPr>
            <a:noAutofit/>
          </a:bodyPr>
          <a:lstStyle/>
          <a:p>
            <a:pPr algn="just">
              <a:tabLst>
                <a:tab pos="2155825" algn="l"/>
              </a:tabLst>
            </a:pPr>
            <a:r>
              <a:rPr lang="vi-VN" sz="5400" b="1" dirty="0">
                <a:latin typeface="+mj-lt"/>
              </a:rPr>
              <a:t>2. Này từ mộ địa kia giờ đây Chúa ta sống lại rồi, kìa Ngài đầy quyền uy bẻ gãy ách gông từ ngàn đời, chịu hàng vạn đòn roi dù cho toàn thân Ngài tắm máu, chết nhuốc nhơ trên khổ hình nơi đồi ghi dấu.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813730995"/>
      </p:ext>
    </p:extLst>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29928"/>
            <a:ext cx="9144000" cy="4641273"/>
          </a:xfrm>
        </p:spPr>
        <p:txBody>
          <a:bodyPr>
            <a:noAutofit/>
          </a:bodyPr>
          <a:lstStyle/>
          <a:p>
            <a:pPr algn="just">
              <a:tabLst>
                <a:tab pos="2155825" algn="l"/>
              </a:tabLst>
            </a:pPr>
            <a:r>
              <a:rPr lang="vi-VN" sz="5400" b="1" dirty="0">
                <a:latin typeface="+mj-lt"/>
              </a:rPr>
              <a:t>Rồi Ngài đã Phục Sinh hiển vinh phá tan cửa ngục hình và rồi kể từ đây, Ngài đã xoá đi bao tội tình, và cửa địa đàng kia mở toan nhận bao người thế giới, hãy hoan ca hỡi đất trời núi cao biển rộng sông dài.</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538814658"/>
      </p:ext>
    </p:extLst>
  </p:cSld>
  <p:clrMapOvr>
    <a:masterClrMapping/>
  </p:clrMapOv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8116"/>
            <a:ext cx="9144000" cy="4641273"/>
          </a:xfrm>
        </p:spPr>
        <p:txBody>
          <a:bodyPr>
            <a:noAutofit/>
          </a:bodyPr>
          <a:lstStyle/>
          <a:p>
            <a:pPr algn="just">
              <a:tabLst>
                <a:tab pos="2155825" algn="l"/>
              </a:tabLst>
            </a:pPr>
            <a:r>
              <a:rPr lang="vi-VN" sz="5400" b="1" dirty="0">
                <a:latin typeface="+mj-lt"/>
              </a:rPr>
              <a:t>ĐK. Vang lên </a:t>
            </a:r>
            <a:r>
              <a:rPr lang="en-US" sz="5400" b="1" dirty="0" err="1">
                <a:latin typeface="Times New Roman" panose="02020603050405020304" pitchFamily="18" charset="0"/>
                <a:cs typeface="Times New Roman" panose="02020603050405020304" pitchFamily="18" charset="0"/>
              </a:rPr>
              <a:t>mãi</a:t>
            </a:r>
            <a:r>
              <a:rPr lang="vi-VN" sz="5400" b="1" dirty="0">
                <a:latin typeface="+mj-lt"/>
              </a:rPr>
              <a:t> vạn cung đàn. Mừng khen nay Chúa đã khải hoàn. Ca lên hỡi toàn nhân trần vì Giêsu Phục Sinh trong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vi-VN" sz="5400" b="1" dirty="0">
                <a:latin typeface="+mj-lt"/>
              </a:rPr>
              <a:t>.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430328598"/>
      </p:ext>
    </p:extLst>
  </p:cSld>
  <p:clrMapOvr>
    <a:masterClrMapping/>
  </p:clrMapOv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ĐÃ SỐNG LẠI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98116"/>
            <a:ext cx="9144000" cy="4641273"/>
          </a:xfrm>
        </p:spPr>
        <p:txBody>
          <a:bodyPr>
            <a:noAutofit/>
          </a:bodyPr>
          <a:lstStyle/>
          <a:p>
            <a:pPr algn="just">
              <a:tabLst>
                <a:tab pos="2155825" algn="l"/>
              </a:tabLst>
            </a:pPr>
            <a:r>
              <a:rPr lang="vi-VN" sz="5400" b="1" dirty="0">
                <a:latin typeface="+mj-lt"/>
              </a:rPr>
              <a:t>Xua tan hết </a:t>
            </a:r>
            <a:r>
              <a:rPr lang="en-US" sz="5400" b="1" dirty="0" err="1">
                <a:latin typeface="Times New Roman" panose="02020603050405020304" pitchFamily="18" charset="0"/>
                <a:cs typeface="Times New Roman" panose="02020603050405020304" pitchFamily="18" charset="0"/>
              </a:rPr>
              <a:t>mọi</a:t>
            </a:r>
            <a:r>
              <a:rPr lang="vi-VN" sz="5400" b="1" dirty="0">
                <a:latin typeface="+mj-lt"/>
              </a:rPr>
              <a:t> ưu phiền, đập tan bao nhiêu chước ác ma. Hôm nay Chúa đã sống lại, cùng nhau xướng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445169630"/>
      </p:ext>
    </p:extLst>
  </p:cSld>
  <p:clrMapOvr>
    <a:masterClrMapping/>
  </p:clrMapOv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051B5-0EAD-480E-A697-DDC886C0D7A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FE8B8AB-9F33-47B7-9C60-6C4F94F5A0E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5602367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ĐK. Đức Ki-tô đã sống lại thật rồi! Đức Ki-tô đã đánh tan tử thần. Nào hân hoan cùng ca lên Al-lê-lu-ia!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065746281"/>
      </p:ext>
    </p:extLst>
  </p:cSld>
  <p:clrMapOvr>
    <a:masterClrMapping/>
  </p:clrMapOv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Đức Ki-tô là Tình Yêu vinh thắng mang cho đời sự sống mới linh thiêng. Cất cao lên câu ngợi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762500583"/>
      </p:ext>
    </p:extLst>
  </p:cSld>
  <p:clrMapOvr>
    <a:masterClrMapping/>
  </p:clrMapOv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4410"/>
            <a:ext cx="9144000" cy="5615940"/>
          </a:xfrm>
        </p:spPr>
        <p:txBody>
          <a:bodyPr>
            <a:noAutofit/>
          </a:bodyPr>
          <a:lstStyle/>
          <a:p>
            <a:pPr algn="just">
              <a:tabLst>
                <a:tab pos="2155825" algn="l"/>
              </a:tabLst>
            </a:pPr>
            <a:r>
              <a:rPr lang="vi-VN" sz="5400" b="1" dirty="0">
                <a:latin typeface="+mj-lt"/>
              </a:rPr>
              <a:t>1. Hãy loan báo tin mừng rằng Đức Ki-tô đã sống lại thật rồi Ngài là niềm vui ơn cứu rỗi. Chúa đã ra khỏi mồ rồi sự sống chiến thắng reo vui.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945163419"/>
      </p:ext>
    </p:extLst>
  </p:cSld>
  <p:clrMapOvr>
    <a:masterClrMapping/>
  </p:clrMapOv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81744"/>
            <a:ext cx="9144000" cy="4641273"/>
          </a:xfrm>
        </p:spPr>
        <p:txBody>
          <a:bodyPr>
            <a:noAutofit/>
          </a:bodyPr>
          <a:lstStyle/>
          <a:p>
            <a:pPr algn="just">
              <a:tabLst>
                <a:tab pos="2155825" algn="l"/>
              </a:tabLst>
            </a:pPr>
            <a:r>
              <a:rPr lang="vi-VN" sz="5400" b="1" dirty="0">
                <a:latin typeface="+mj-lt"/>
              </a:rPr>
              <a:t>Hãy cất bước lên đường dám sống cho một niềm tin dám chết cho một cuộc tình. Tin vào lòng thương xót Chúa con hiến thân sống cho tình yêu.</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298263499"/>
      </p:ext>
    </p:extLst>
  </p:cSld>
  <p:clrMapOvr>
    <a:masterClrMapping/>
  </p:clrMapOv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ĐK. Đức Ki-tô đã sống lại thật rồi! Đức Ki-tô đã đánh tan tử thần. Nào hân hoan cùng ca lên Al-lê-lu-ia!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61753554"/>
      </p:ext>
    </p:extLst>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Đức Ki-tô là Tình Yêu vinh thắng mang cho đời sự sống mới linh thiêng. Cất cao lên câu ngợi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022685247"/>
      </p:ext>
    </p:extLst>
  </p:cSld>
  <p:clrMapOvr>
    <a:masterClrMapping/>
  </p:clrMapOv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3"/>
            <a:ext cx="9144000" cy="4641273"/>
          </a:xfrm>
        </p:spPr>
        <p:txBody>
          <a:bodyPr>
            <a:noAutofit/>
          </a:bodyPr>
          <a:lstStyle/>
          <a:p>
            <a:pPr algn="just">
              <a:tabLst>
                <a:tab pos="2155825" algn="l"/>
              </a:tabLst>
            </a:pPr>
            <a:r>
              <a:rPr lang="vi-VN" sz="5400" b="1" dirty="0">
                <a:latin typeface="+mj-lt"/>
              </a:rPr>
              <a:t>2. Hãy loan báo tin mừng rằng Đức Ki-tô đã thắng tử thần rồi Ngài là nguồn ân ban sự sống. Hãy vững tâm giữa cuộc đời và sống tín thác không ngơi</a:t>
            </a:r>
            <a:r>
              <a:rPr lang="en-US" sz="5400" b="1" dirty="0">
                <a:latin typeface="+mj-lt"/>
              </a:rPr>
              <a:t>.</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118903650"/>
      </p:ext>
    </p:extLst>
  </p:cSld>
  <p:clrMapOvr>
    <a:masterClrMapping/>
  </p:clrMapOv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11118"/>
            <a:ext cx="9144000" cy="3835763"/>
          </a:xfrm>
        </p:spPr>
        <p:txBody>
          <a:bodyPr>
            <a:noAutofit/>
          </a:bodyPr>
          <a:lstStyle/>
          <a:p>
            <a:pPr algn="just">
              <a:tabLst>
                <a:tab pos="2155825" algn="l"/>
              </a:tabLst>
            </a:pPr>
            <a:r>
              <a:rPr lang="vi-VN" sz="5400" b="1" dirty="0">
                <a:latin typeface="+mj-lt"/>
              </a:rPr>
              <a:t>Hãy cất tiếng ca ngợi muôn nơi giữa lòng thế giới ánh sáng cứu độ muôn người. Chúa là niềm vui hạnh phúc cho những ai mến tin từ nay.</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047378540"/>
      </p:ext>
    </p:extLst>
  </p:cSld>
  <p:clrMapOvr>
    <a:masterClrMapping/>
  </p:clrMapOv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ĐK. Đức Ki-tô đã sống lại thật rồi! Đức Ki-tô đã đánh tan tử thần. Nào hân hoan cùng ca lên Al-lê-lu-ia!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647254029"/>
      </p:ext>
    </p:extLst>
  </p:cSld>
  <p:clrMapOvr>
    <a:masterClrMapping/>
  </p:clrMapOv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Đức Ki-tô là Tình Yêu vinh thắng mang cho đời sự sống mới linh thiêng. Cất cao lên câu ngợi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3740065022"/>
      </p:ext>
    </p:extLst>
  </p:cSld>
  <p:clrMapOvr>
    <a:masterClrMapping/>
  </p:clrMapOv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3"/>
            <a:ext cx="9144000" cy="4641273"/>
          </a:xfrm>
        </p:spPr>
        <p:txBody>
          <a:bodyPr>
            <a:noAutofit/>
          </a:bodyPr>
          <a:lstStyle/>
          <a:p>
            <a:pPr algn="just">
              <a:tabLst>
                <a:tab pos="2155825" algn="l"/>
              </a:tabLst>
            </a:pPr>
            <a:r>
              <a:rPr lang="vi-VN" sz="5400" b="1" dirty="0">
                <a:latin typeface="+mj-lt"/>
              </a:rPr>
              <a:t>3. Chúa vinh thắng khải hoàn rồi Chúa đang chờ đợi con trong cuộc đời Ngài mời gọi con mau đi tới. Hãy bước ra khỏi mộ buồn vượt thoát bóng tối âm u.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81718167"/>
      </p:ext>
    </p:extLst>
  </p:cSld>
  <p:clrMapOvr>
    <a:masterClrMapping/>
  </p:clrMapOv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08363"/>
            <a:ext cx="9144000" cy="4641273"/>
          </a:xfrm>
        </p:spPr>
        <p:txBody>
          <a:bodyPr>
            <a:noAutofit/>
          </a:bodyPr>
          <a:lstStyle/>
          <a:p>
            <a:pPr algn="just">
              <a:tabLst>
                <a:tab pos="2155825" algn="l"/>
              </a:tabLst>
            </a:pPr>
            <a:r>
              <a:rPr lang="vi-VN" sz="5400" b="1" dirty="0">
                <a:latin typeface="+mj-lt"/>
              </a:rPr>
              <a:t>Hãy biết sống can trường vươn lên giữa mọi đau thương xóa hết xấu xa tầm thường. Để rồi trở nên nhân chứng loan báo tin Chúa đã phục sinh.</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319964085"/>
      </p:ext>
    </p:extLst>
  </p:cSld>
  <p:clrMapOvr>
    <a:masterClrMapping/>
  </p:clrMapOv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ĐK. Đức Ki-tô đã sống lại thật rồi! Đức Ki-tô đã đánh tan tử thần. Nào hân hoan cùng ca lên Al-lê-lu-ia! </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1762751736"/>
      </p:ext>
    </p:extLst>
  </p:cSld>
  <p:clrMapOvr>
    <a:masterClrMapping/>
  </p:clrMapOv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MỪNG PHỤC SINH 1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32560"/>
            <a:ext cx="9144000" cy="5105400"/>
          </a:xfrm>
        </p:spPr>
        <p:txBody>
          <a:bodyPr>
            <a:noAutofit/>
          </a:bodyPr>
          <a:lstStyle/>
          <a:p>
            <a:pPr algn="just">
              <a:tabLst>
                <a:tab pos="2155825" algn="l"/>
              </a:tabLst>
            </a:pPr>
            <a:r>
              <a:rPr lang="vi-VN" sz="5400" b="1" dirty="0">
                <a:latin typeface="+mj-lt"/>
              </a:rPr>
              <a:t>Đức Ki-tô là Tình Yêu vinh thắng mang cho đời sự sống mới linh thiêng. Cất cao lên câu ngợi ca Al-lê-lu-ia!</a:t>
            </a:r>
            <a:endParaRPr lang="en-US" sz="5400" b="1" dirty="0">
              <a:latin typeface="+mj-lt"/>
              <a:cs typeface="Times New Roman" panose="02020603050405020304" pitchFamily="18" charset="0"/>
            </a:endParaRPr>
          </a:p>
        </p:txBody>
      </p:sp>
    </p:spTree>
    <p:extLst>
      <p:ext uri="{BB962C8B-B14F-4D97-AF65-F5344CB8AC3E}">
        <p14:creationId xmlns:p14="http://schemas.microsoft.com/office/powerpoint/2010/main" val="2018143087"/>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C87B40-67B3-4E0A-96FF-55AC7C34A9D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0CD2D2F-B118-4347-B544-B4BFEEC249A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9957519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NỮ VƯƠNG THIÊN ĐÀNG (TD-TC)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92283"/>
            <a:ext cx="9144000" cy="4641273"/>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Alleluia, Alleluia, Alleluia, Alleluia, Alleluia.</a:t>
            </a:r>
          </a:p>
        </p:txBody>
      </p:sp>
    </p:spTree>
    <p:extLst>
      <p:ext uri="{BB962C8B-B14F-4D97-AF65-F5344CB8AC3E}">
        <p14:creationId xmlns:p14="http://schemas.microsoft.com/office/powerpoint/2010/main" val="1011122103"/>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NỮ VƯƠNG THIÊN ĐÀNG (TD-TC)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8403"/>
            <a:ext cx="9144000" cy="4641273"/>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13917908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NỮ VƯƠNG THIÊN ĐÀNG (TD-TC)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992283"/>
            <a:ext cx="9144000" cy="4641273"/>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Alleluia, Alleluia, Alleluia, Alleluia, Alleluia.</a:t>
            </a:r>
          </a:p>
        </p:txBody>
      </p:sp>
    </p:spTree>
    <p:extLst>
      <p:ext uri="{BB962C8B-B14F-4D97-AF65-F5344CB8AC3E}">
        <p14:creationId xmlns:p14="http://schemas.microsoft.com/office/powerpoint/2010/main" val="3524960369"/>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5850</TotalTime>
  <Words>4599</Words>
  <Application>Microsoft Office PowerPoint</Application>
  <PresentationFormat>On-screen Show (4:3)</PresentationFormat>
  <Paragraphs>234</Paragraphs>
  <Slides>104</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104</vt:i4>
      </vt:variant>
    </vt:vector>
  </HeadingPairs>
  <TitlesOfParts>
    <vt:vector size="109"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PowerPoint Presentation</vt:lpstr>
      <vt:lpstr>Kết Lễ                               VUI CA PHỤC SINH (328)</vt:lpstr>
      <vt:lpstr>Kết Lễ                               VUI CA PHỤC SINH (328)</vt:lpstr>
      <vt:lpstr>PowerPoint Presentation</vt:lpstr>
      <vt:lpstr>Ca tiếp liên                              HOAN CA PHỤC SINH (HL)</vt:lpstr>
      <vt:lpstr>Ca tiếp liên                              HOAN CA PHỤC SINH (HL)</vt:lpstr>
      <vt:lpstr>PowerPoint Presentation</vt:lpstr>
      <vt:lpstr>Dâng lễ        LỄ DÂNG PHỤC SINH (NHL)</vt:lpstr>
      <vt:lpstr>Dâng lễ        LỄ DÂNG PHỤC SINH (NHL)</vt:lpstr>
      <vt:lpstr>Hiệp lễ        CHÚA ĐÃ SỐNG LẠI (TT)</vt:lpstr>
      <vt:lpstr>Hiệp lễ        CHÚA ĐÃ SỐNG LẠI (TT)</vt:lpstr>
      <vt:lpstr>Hiệp lễ        TIN MỪNG PHỤC SINH 1 (TN)</vt:lpstr>
      <vt:lpstr>Hiệp lễ        TIN MỪNG PHỤC SINH 1 (TN)</vt:lpstr>
      <vt:lpstr>Kết lễ                        NỮ VƯƠNG THIÊN ĐÀNG (TD-TC)</vt:lpstr>
      <vt:lpstr>Kết lễ                        NỮ VƯƠNG THIÊN ĐÀNG (TD-TC)</vt:lpstr>
      <vt:lpstr>PowerPoint Presentation</vt:lpstr>
      <vt:lpstr>Kết Lễ                               VUI CA PHỤC SINH (328)</vt:lpstr>
      <vt:lpstr>Kết Lễ                               VUI CA PHỤC SINH (328)</vt:lpstr>
      <vt:lpstr>Kết Lễ                               VUI CA PHỤC SINH (328)</vt:lpstr>
      <vt:lpstr>Kết Lễ                               VUI CA PHỤC SINH (328)</vt:lpstr>
      <vt:lpstr>Kết Lễ                               VUI CA PHỤC SINH (328)</vt:lpstr>
      <vt:lpstr>Kết Lễ                               VUI CA PHỤC SINH (328)</vt:lpstr>
      <vt:lpstr>PowerPoint Presentation</vt:lpstr>
      <vt:lpstr>Đáp ca                            </vt:lpstr>
      <vt:lpstr>PowerPoint Presentation</vt:lpstr>
      <vt:lpstr>Đáp ca                            </vt:lpstr>
      <vt:lpstr>PowerPoint Presentation</vt:lpstr>
      <vt:lpstr>Đáp ca                            </vt:lpstr>
      <vt:lpstr>PowerPoint Presentation</vt:lpstr>
      <vt:lpstr>PowerPoint Presentation</vt:lpstr>
      <vt:lpstr>Ca tiếp liên                              HOAN CA PHỤC SINH (HL)</vt:lpstr>
      <vt:lpstr>Ca tiếp liên                              HOAN CA PHỤC SINH (HL)</vt:lpstr>
      <vt:lpstr>Ca tiếp liên                              HOAN CA PHỤC SINH (HL)</vt:lpstr>
      <vt:lpstr>Ca tiếp liên                              HOAN CA PHỤC SINH (HL)</vt:lpstr>
      <vt:lpstr>Ca tiếp liên                              HOAN CA PHỤC SINH (HL)</vt:lpstr>
      <vt:lpstr>Ca tiếp liên                              HOAN CA PHỤC SINH (HL)</vt:lpstr>
      <vt:lpstr>Ca tiếp liên                              HOAN CA PHỤC SINH (HL)</vt:lpstr>
      <vt:lpstr>Ca tiếp liên                              HOAN CA PHỤC SINH (HL)</vt:lpstr>
      <vt:lpstr>Ca tiếp liên                              HOAN CA PHỤC SINH (HL)</vt:lpstr>
      <vt:lpstr>PowerPoint Presentation</vt:lpstr>
      <vt:lpstr>Dâng lễ        LỄ DÂNG PHỤC SINH (NHL)</vt:lpstr>
      <vt:lpstr>Dâng lễ        LỄ DÂNG PHỤC SINH (NHL)</vt:lpstr>
      <vt:lpstr>Dâng lễ        LỄ DÂNG PHỤC SINH (NHL)</vt:lpstr>
      <vt:lpstr>Dâng lễ        LỄ DÂNG PHỤC SINH (NHL)</vt:lpstr>
      <vt:lpstr>Dâng lễ        LỄ DÂNG PHỤC SINH (NHL)</vt:lpstr>
      <vt:lpstr>Dâng lễ        LỄ DÂNG PHỤC SINH (NHL)</vt:lpstr>
      <vt:lpstr>CA HIỆP LỄ</vt:lpstr>
      <vt:lpstr>Hiệp lễ        CHÚA ĐÃ SỐNG LẠI (TT)</vt:lpstr>
      <vt:lpstr>Hiệp lễ        CHÚA ĐÃ SỐNG LẠI (TT)</vt:lpstr>
      <vt:lpstr>Hiệp lễ        CHÚA ĐÃ SỐNG LẠI (TT)</vt:lpstr>
      <vt:lpstr>Hiệp lễ        CHÚA ĐÃ SỐNG LẠI (TT)</vt:lpstr>
      <vt:lpstr>Hiệp lễ        CHÚA ĐÃ SỐNG LẠI (TT)</vt:lpstr>
      <vt:lpstr>Hiệp lễ        CHÚA ĐÃ SỐNG LẠI (TT)</vt:lpstr>
      <vt:lpstr>Hiệp lễ        CHÚA ĐÃ SỐNG LẠI (TT)</vt:lpstr>
      <vt:lpstr>Hiệp lễ        CHÚA ĐÃ SỐNG LẠI (TT)</vt:lpstr>
      <vt:lpstr>Hiệp lễ        CHÚA ĐÃ SỐNG LẠI (TT)</vt:lpstr>
      <vt:lpstr>Hiệp lễ        CHÚA ĐÃ SỐNG LẠI (TT)</vt:lpstr>
      <vt:lpstr>PowerPoint Presentation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Hiệp lễ        TIN MỪNG PHỤC SINH 1 (TN)</vt:lpstr>
      <vt:lpstr>PowerPoint Presentation</vt:lpstr>
      <vt:lpstr>Kết lễ                        NỮ VƯƠNG THIÊN ĐÀNG (TD-TC)</vt:lpstr>
      <vt:lpstr>Kết lễ                        NỮ VƯƠNG THIÊN ĐÀNG (TD-TC)</vt:lpstr>
      <vt:lpstr>Kết lễ                        NỮ VƯƠNG THIÊN ĐÀNG (TD-TC)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1480</cp:revision>
  <dcterms:created xsi:type="dcterms:W3CDTF">2018-09-17T12:52:44Z</dcterms:created>
  <dcterms:modified xsi:type="dcterms:W3CDTF">2021-04-04T09:55:06Z</dcterms:modified>
</cp:coreProperties>
</file>